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3840480" cy="3840480"/>
          </a:xfrm>
          <a:prstGeom prst="ellipse">
            <a:avLst/>
          </a:prstGeom>
          <a:solidFill>
            <a:srgbClr val="14304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291840" cy="3291840"/>
          </a:xfrm>
          <a:prstGeom prst="ellipse">
            <a:avLst/>
          </a:prstGeom>
          <a:solidFill>
            <a:srgbClr val="1430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B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1508  ·  COURSE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6766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Generative Models for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RF Signals &amp; Anomaly Detection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3566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 </a:t>
            </a:r>
            <a:pPr indent="0" marL="0">
              <a:buNone/>
            </a:pPr>
            <a:r>
              <a:rPr lang="en-US" sz="1700" b="1" i="1" dirty="0">
                <a:solidFill>
                  <a:srgbClr val="A7D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pPr indent="0" marL="0">
              <a:buNone/>
            </a:pPr>
            <a:r>
              <a:rPr lang="en-US" sz="17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a </a:t>
            </a:r>
            <a:pPr indent="0" marL="0">
              <a:buNone/>
            </a:pPr>
            <a:r>
              <a:rPr lang="en-US" sz="1700" b="1" i="1" dirty="0">
                <a:solidFill>
                  <a:srgbClr val="A7D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pPr indent="0" marL="0">
              <a:buNone/>
            </a:pPr>
            <a:r>
              <a:rPr lang="en-US" sz="17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a </a:t>
            </a:r>
            <a:pPr indent="0" marL="0">
              <a:buNone/>
            </a:pPr>
            <a:r>
              <a:rPr lang="en-US" sz="1700" b="1" i="1" dirty="0">
                <a:solidFill>
                  <a:srgbClr val="A7D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</a:t>
            </a:r>
            <a:pPr indent="0" marL="0">
              <a:buNone/>
            </a:pPr>
            <a:r>
              <a:rPr lang="en-US" sz="17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and </a:t>
            </a:r>
            <a:pPr indent="0" marL="0">
              <a:buNone/>
            </a:pPr>
            <a:r>
              <a:rPr lang="en-US" sz="1700" b="1" i="1" dirty="0">
                <a:solidFill>
                  <a:srgbClr val="A7D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5212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Tristan Ruel</a:t>
            </a:r>
            <a:pPr indent="0" marL="0">
              <a:buNone/>
            </a:pPr>
            <a:r>
              <a:rPr lang="en-US" sz="15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Student No. 1012867710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5577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Toronto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1234440"/>
            <a:ext cx="3977640" cy="457200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C:\Users\Tristan Ruel\Desktop\University of Toronto\ECE 1508\Project\results\figures\fig_signal_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344168"/>
            <a:ext cx="3758184" cy="43525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0" y="58064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protocols (top) · 4 anomaly types (bottom)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The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RF datasets are hard to collect, label, and balance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corrupted, malformed, and protocol-inconsistent transmissions are rare. Can a model learn the distribution of valid signals well enough to both generate realistic samples and flag ones that do not fit?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2880360"/>
            <a:ext cx="457200" cy="457200"/>
          </a:xfrm>
          <a:prstGeom prst="ellipse">
            <a:avLst/>
          </a:prstGeom>
          <a:solidFill>
            <a:srgbClr val="17B0A3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2834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reproducible corpus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43000" y="3172968"/>
            <a:ext cx="5715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(OFDM), BLE (GFSK), ZigBee (O-QPSK/DSSS) — pure-NumPy I/Q, seeded.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977640"/>
            <a:ext cx="457200" cy="457200"/>
          </a:xfrm>
          <a:prstGeom prst="ellipse">
            <a:avLst/>
          </a:prstGeom>
          <a:solidFill>
            <a:srgbClr val="17B0A3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3931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32×32 spectrograms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43000" y="4270248"/>
            <a:ext cx="5715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log-STFT representation for every model → a fair comparison.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5074920"/>
            <a:ext cx="457200" cy="457200"/>
          </a:xfrm>
          <a:prstGeom prst="ellipse">
            <a:avLst/>
          </a:prstGeom>
          <a:solidFill>
            <a:srgbClr val="17B0A3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5029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anomaly types (test-only)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43000" y="5367528"/>
            <a:ext cx="5715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noise · frequency shift · timing corruption · protocol mixing.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69480" y="1234440"/>
            <a:ext cx="4480560" cy="507492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B5">
                <a:alpha val="30000"/>
              </a:srgbClr>
            </a:outerShdw>
          </a:effectLst>
        </p:spPr>
      </p:sp>
      <p:pic>
        <p:nvPicPr>
          <p:cNvPr id="17" name="Image 0" descr="C:\Users\Tristan Ruel\Desktop\University of Toronto\ECE 1508\Project\results\figures\fig_signal_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417320"/>
            <a:ext cx="411480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Generative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class-conditional. Anomaly score = min over classes of each model's native score.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342900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25420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VAE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LATENT-VARIABLE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encoder–decoder; maximise the ELBO.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4526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neg. ELBO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01568" y="1600200"/>
            <a:ext cx="2651760" cy="342900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B5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75888" y="1874520"/>
            <a:ext cx="548640" cy="548640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3" name="Text 11"/>
          <p:cNvSpPr/>
          <p:nvPr/>
        </p:nvSpPr>
        <p:spPr>
          <a:xfrm>
            <a:off x="3675888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25420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RealNVP Flow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5760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LIKELIHOOD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+ 8 coupling layers; exact log p(x).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4526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neg. log-likelihood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54496" y="1600200"/>
            <a:ext cx="2651760" cy="342900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B5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28816" y="1874520"/>
            <a:ext cx="548640" cy="548640"/>
          </a:xfrm>
          <a:prstGeom prst="ellipse">
            <a:avLst/>
          </a:prstGeom>
          <a:solidFill>
            <a:srgbClr val="2CA02C"/>
          </a:solidFill>
          <a:ln/>
        </p:spPr>
      </p:sp>
      <p:sp>
        <p:nvSpPr>
          <p:cNvPr id="20" name="Text 18"/>
          <p:cNvSpPr/>
          <p:nvPr/>
        </p:nvSpPr>
        <p:spPr>
          <a:xfrm>
            <a:off x="652881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10528" y="25420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DDPM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10528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/ DIFFUSION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10528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Class-cond. U-Net predicts added noise.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10528" y="4526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denoising error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07424" y="1600200"/>
            <a:ext cx="2651760" cy="342900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B5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81744" y="1874520"/>
            <a:ext cx="548640" cy="548640"/>
          </a:xfrm>
          <a:prstGeom prst="ellipse">
            <a:avLst/>
          </a:prstGeom>
          <a:solidFill>
            <a:srgbClr val="9467BD"/>
          </a:solidFill>
          <a:ln/>
        </p:spPr>
      </p:sp>
      <p:sp>
        <p:nvSpPr>
          <p:cNvPr id="27" name="Text 25"/>
          <p:cNvSpPr/>
          <p:nvPr/>
        </p:nvSpPr>
        <p:spPr>
          <a:xfrm>
            <a:off x="938174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63456" y="25420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 (I/Q)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363456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6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SSM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63456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SSM over raw I/Q tokens; exact discrete p(x).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63456" y="4526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neg. log-likelihood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0E1B2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2578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B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/ flow / DDPM share a peak-normalised 32×32 STFT spectrogram; Mamba is autoregressive over the raw I/Q sequence. All train on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7D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signals only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anomalies are held out.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Anomaly-detection ROC-AUC (trained on normal signals only)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9384"/>
            <a:ext cx="292608" cy="29260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16184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2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108960" y="1764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RealNVP flow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211226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likelihood — best detector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6035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44952"/>
            <a:ext cx="292608" cy="292608"/>
          </a:xfrm>
          <a:prstGeom prst="ellipse">
            <a:avLst/>
          </a:prstGeom>
          <a:solidFill>
            <a:srgbClr val="2CA02C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73405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A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108960" y="2880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DDPM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08960" y="322783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— best fidelity (Fréchet 0.16)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6035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60520"/>
            <a:ext cx="292608" cy="292608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3849624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0.846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108960" y="39959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VAE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43434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— cheapest, but over-smooths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6035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276088"/>
            <a:ext cx="292608" cy="292608"/>
          </a:xfrm>
          <a:prstGeom prst="ellipse">
            <a:avLst/>
          </a:prstGeom>
          <a:solidFill>
            <a:srgbClr val="9467BD"/>
          </a:solidFill>
          <a:ln/>
        </p:spPr>
      </p:sp>
      <p:sp>
        <p:nvSpPr>
          <p:cNvPr id="21" name="Text 19"/>
          <p:cNvSpPr/>
          <p:nvPr/>
        </p:nvSpPr>
        <p:spPr>
          <a:xfrm>
            <a:off x="1207008" y="496519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46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0.829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108960" y="51114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 (raw I/Q)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108960" y="545896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— clean discrete likelihood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3720" y="1417320"/>
            <a:ext cx="480060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B5">
                <a:alpha val="30000"/>
              </a:srgbClr>
            </a:outerShdw>
          </a:effectLst>
        </p:spPr>
      </p:sp>
      <p:pic>
        <p:nvPicPr>
          <p:cNvPr id="25" name="Image 0" descr="C:\Users\Tristan Ruel\Desktop\University of Toronto\ECE 1508\Project\results\figures\fig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645920"/>
            <a:ext cx="4251960" cy="35661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903720" y="59893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Class-conditional generation succeeded for all four (100% classifier accuracy).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solidFill>
            <a:srgbClr val="1430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A7D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RF anomaly detection under limited data, prefer likelihood-based or denoising models over the VAE.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7315200" cy="804672"/>
          </a:xfrm>
          <a:prstGeom prst="roundRect">
            <a:avLst>
              <a:gd name="adj" fmla="val 5682"/>
            </a:avLst>
          </a:prstGeom>
          <a:solidFill>
            <a:srgbClr val="14304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715768"/>
            <a:ext cx="310896" cy="31089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7" name="Text 5"/>
          <p:cNvSpPr/>
          <p:nvPr/>
        </p:nvSpPr>
        <p:spPr>
          <a:xfrm>
            <a:off x="1389888" y="2505456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2505456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detector (AUC 0.983) and exact likelihoods; largest model.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7315200" cy="804672"/>
          </a:xfrm>
          <a:prstGeom prst="roundRect">
            <a:avLst>
              <a:gd name="adj" fmla="val 5682"/>
            </a:avLst>
          </a:prstGeom>
          <a:solidFill>
            <a:srgbClr val="14304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611880"/>
            <a:ext cx="310896" cy="310896"/>
          </a:xfrm>
          <a:prstGeom prst="ellipse">
            <a:avLst/>
          </a:prstGeom>
          <a:solidFill>
            <a:srgbClr val="2CA02C"/>
          </a:solidFill>
          <a:ln/>
        </p:spPr>
      </p:sp>
      <p:sp>
        <p:nvSpPr>
          <p:cNvPr id="11" name="Text 9"/>
          <p:cNvSpPr/>
          <p:nvPr/>
        </p:nvSpPr>
        <p:spPr>
          <a:xfrm>
            <a:off x="1389888" y="3401568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340156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Near-best detection (0.972) + most realistic samples; slow sampling.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61104"/>
            <a:ext cx="7315200" cy="804672"/>
          </a:xfrm>
          <a:prstGeom prst="roundRect">
            <a:avLst>
              <a:gd name="adj" fmla="val 5682"/>
            </a:avLst>
          </a:prstGeom>
          <a:solidFill>
            <a:srgbClr val="14304A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507992"/>
            <a:ext cx="310896" cy="310896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15" name="Text 13"/>
          <p:cNvSpPr/>
          <p:nvPr/>
        </p:nvSpPr>
        <p:spPr>
          <a:xfrm>
            <a:off x="1389888" y="42976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42976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&amp; fastest with an encoder; weak detector, blurry samples.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157216"/>
            <a:ext cx="7315200" cy="804672"/>
          </a:xfrm>
          <a:prstGeom prst="roundRect">
            <a:avLst>
              <a:gd name="adj" fmla="val 5682"/>
            </a:avLst>
          </a:prstGeom>
          <a:solidFill>
            <a:srgbClr val="14304A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404104"/>
            <a:ext cx="310896" cy="310896"/>
          </a:xfrm>
          <a:prstGeom prst="ellipse">
            <a:avLst/>
          </a:prstGeom>
          <a:solidFill>
            <a:srgbClr val="9467BD"/>
          </a:solidFill>
          <a:ln/>
        </p:spPr>
      </p:sp>
      <p:sp>
        <p:nvSpPr>
          <p:cNvPr id="19" name="Text 17"/>
          <p:cNvSpPr/>
          <p:nvPr/>
        </p:nvSpPr>
        <p:spPr>
          <a:xfrm>
            <a:off x="1389888" y="5193792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 (I/Q)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08960" y="5193792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Raw-I/Q autoregressive; clean discrete likelihood, but weakest detector &amp; costliest.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0" y="2606040"/>
            <a:ext cx="333756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/>
        </p:spPr>
      </p:sp>
      <p:pic>
        <p:nvPicPr>
          <p:cNvPr id="22" name="Image 0" descr="C:\Users\Tristan Ruel\Desktop\University of Toronto\ECE 1508\Project\results\figures\fig_summary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3063240"/>
            <a:ext cx="3108960" cy="124358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229600" y="43434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AUC ↑   ·   Fréchet 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0" y="489204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reproducible pipeline · report · demo notebook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raw-I/Q flows · over-the-air capture · flow-detector + diffusion-generator hybrid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2026-07-10T04:14:55Z</dcterms:created>
  <dcterms:modified xsi:type="dcterms:W3CDTF">2026-07-10T04:14:55Z</dcterms:modified>
</cp:coreProperties>
</file>